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890"/>
    <p:restoredTop sz="94610"/>
  </p:normalViewPr>
  <p:slideViewPr>
    <p:cSldViewPr snapToGrid="0" snapToObjects="1">
      <p:cViewPr>
        <p:scale>
          <a:sx n="179" d="100"/>
          <a:sy n="179" d="100"/>
        </p:scale>
        <p:origin x="120" y="1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10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Exp1
Unigrams</c:v>
                </c:pt>
                <c:pt idx="1">
                  <c:v>Exp2
+Bigrams</c:v>
                </c:pt>
                <c:pt idx="2">
                  <c:v>Exp3
+POS</c:v>
                </c:pt>
                <c:pt idx="3">
                  <c:v>Exp4
+Signals</c:v>
                </c:pt>
                <c:pt idx="4">
                  <c:v>Exp5
Log.Reg.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0.96899999999999997</c:v>
                </c:pt>
                <c:pt idx="1">
                  <c:v>0.95199999999999996</c:v>
                </c:pt>
                <c:pt idx="2">
                  <c:v>0.95399999999999996</c:v>
                </c:pt>
                <c:pt idx="3">
                  <c:v>0.95699999999999996</c:v>
                </c:pt>
                <c:pt idx="4">
                  <c:v>0.96799999999999997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8A-7043-8995-0C11F4AD50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(Macro)</c:v>
                </c:pt>
              </c:strCache>
            </c:strRef>
          </c:tx>
          <c:spPr>
            <a:solidFill>
              <a:srgbClr val="048A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10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Exp1
Unigrams</c:v>
                </c:pt>
                <c:pt idx="1">
                  <c:v>Exp2
+Bigrams</c:v>
                </c:pt>
                <c:pt idx="2">
                  <c:v>Exp3
+POS</c:v>
                </c:pt>
                <c:pt idx="3">
                  <c:v>Exp4
+Signals</c:v>
                </c:pt>
                <c:pt idx="4">
                  <c:v>Exp5
Log.Reg.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0.96899999999999997</c:v>
                </c:pt>
                <c:pt idx="1">
                  <c:v>0.95199999999999996</c:v>
                </c:pt>
                <c:pt idx="2">
                  <c:v>0.95399999999999996</c:v>
                </c:pt>
                <c:pt idx="3">
                  <c:v>0.95699999999999996</c:v>
                </c:pt>
                <c:pt idx="4">
                  <c:v>0.96799999999999997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8A-7043-8995-0C11F4AD50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8"/>
          <c:min val="0.9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38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Goal: classify emails as spam or ham using NLP feature engineering and compare multiple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structure: data → preprocessing → 5 experiments → novel feature → advanced classifier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Enron corpus is real email data from the FERC investigation. Spam was artificially injected for research. We use 500/500 for a balanced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 is critical. Latin-1 handles email headers. Stop words like 'the' and 'a' add noise, not signal. We keep only alphabetic content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experiment layer adds signal. Unigrams alone are powerful for spam; bigrams capture phrases; POS adds syntax; the custom stylometric features capture formatting abuse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is strong at ~96.9% accuracy. This sets the bar. Spam has high recall (0.994) meaning almost no spam gets through, but some ham is falsely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 2 and 3 add richer linguistic features. Note the Naive Bayes independence assumption limitation — bigrams share tokens with unigrams, which can actually hurt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features capture HOW spam is written, not just what words appear. Spammers abuse formatting: ALL CAPS, exclamation marks, dollar signs, and URL overload. These are stylometric signals independent of word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Cross-validation is more reliable than a single split. With only 1000 emails, one bad split could distort results. 5-fold balances variance vs. training data. Emphasize why F1 matters more than accuracy for imbalanced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same features, different classifier. LR handles correlated features better. Critically, we built features in NLTK as required — not with sklearn's built-in text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finding: bigrams hurt Naive Bayes due to the independence assumption violation. Logistic Regression handles this gracefully and recovers the baseline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connecting back to the project goals. Emphasize the analytical insight about bigrams and Naive Bayes — that's the kind of finding that shows real understanding of the models, not just running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57200" y="7315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NLP Final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Spam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3200400" cy="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7A6A66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7A6A66"/>
                </a:solidFill>
              </a:rPr>
              <a:t>IST 664 – Natural Language Processing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7A6A66"/>
                </a:solidFill>
              </a:rPr>
              <a:t>Najah Bell -  Spring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1179576"/>
            <a:ext cx="402336" cy="40233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1179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124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 corpus: 3,672 ham + 1,500 spam emails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1938528"/>
            <a:ext cx="402336" cy="40233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lowercasing, stop word removal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9464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" y="2697480"/>
            <a:ext cx="402336" cy="40233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642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9077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experiments with 5-fold cross-validation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" y="3456432"/>
            <a:ext cx="402336" cy="40233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9728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Feature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6667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stylometric spam signal features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87368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6928" y="4215384"/>
            <a:ext cx="402336" cy="402336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Task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42569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Logistic Regression vs Naive Bayes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 Email Spam Corpus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3,672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Ham emails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B0AA"/>
                </a:solidFill>
              </a:rPr>
              <a:t>Legitimate workplace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B0AA"/>
                </a:solidFill>
              </a:rPr>
              <a:t>correspondence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325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Spam emails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B0AA"/>
                </a:solidFill>
              </a:rPr>
              <a:t>Injected spam per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B0AA"/>
                </a:solidFill>
              </a:rPr>
              <a:t>CEAS 2006 methodology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1188720"/>
            <a:ext cx="2926080" cy="1645920"/>
          </a:xfrm>
          <a:prstGeom prst="roundRect">
            <a:avLst>
              <a:gd name="adj" fmla="val 5556"/>
            </a:avLst>
          </a:prstGeom>
          <a:solidFill>
            <a:srgbClr val="FAF5F0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1325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52160" y="1965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500 ham + 500 spam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used per run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(prevents accuracy bias)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7679531" cy="1783080"/>
          </a:xfrm>
          <a:prstGeom prst="roundRect">
            <a:avLst>
              <a:gd name="adj" fmla="val 5128"/>
            </a:avLst>
          </a:prstGeom>
          <a:solidFill>
            <a:srgbClr val="2A1019"/>
          </a:solidFill>
          <a:ln w="12700">
            <a:solidFill>
              <a:srgbClr val="2A1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FFE4F8F-9986-79BF-8933-6349B641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157" y="3139887"/>
            <a:ext cx="6715125" cy="1446905"/>
          </a:xfrm>
          <a:prstGeom prst="rect">
            <a:avLst/>
          </a:prstGeom>
          <a:effectLst>
            <a:softEdge rad="127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Preprocessing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914400"/>
            <a:ext cx="502920" cy="50292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NLTK word_tokenize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splits text into tokens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including punctuation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35808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6769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97680" y="914400"/>
            <a:ext cx="502920" cy="50292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Lowercase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All tokens converted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to lowercase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case-insensitive matching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16168" y="1600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26769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78040" y="914400"/>
            <a:ext cx="502920" cy="502920"/>
          </a:xfrm>
          <a:prstGeom prst="ellipse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804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words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2648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NLTK English stopwords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removed; non-alpha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tokens filtered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feature functions — each building on the last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134416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E8B4B8">
              <a:alpha val="80000"/>
            </a:srgbClr>
          </a:solidFill>
          <a:ln w="12700">
            <a:solidFill>
              <a:srgbClr val="E8B4B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3441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1019"/>
                </a:solidFill>
              </a:rPr>
              <a:t>EXP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Unigrams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CE"/>
                </a:solidFill>
              </a:rPr>
              <a:t>Top 2,000 words 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D5CE"/>
                </a:solidFill>
              </a:rPr>
              <a:t>Boolean features (V_word)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2344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8C4A5C"/>
          </a:solidFill>
          <a:ln w="12700">
            <a:solidFill>
              <a:srgbClr val="8C4A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27448" y="134416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E8B4B8">
              <a:alpha val="80000"/>
            </a:srgbClr>
          </a:solidFill>
          <a:ln w="12700">
            <a:solidFill>
              <a:srgbClr val="E8B4B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7448" y="13441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1019"/>
                </a:solidFill>
              </a:rPr>
              <a:t>EXP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9160" y="17099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Bigrams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20756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CE"/>
                </a:solidFill>
              </a:rPr>
              <a:t>Top 500 two-word pairs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D5CE"/>
                </a:solidFill>
              </a:rPr>
              <a:t>(B_click_here, B_free_money)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" y="317296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E8B4B8">
              <a:alpha val="80000"/>
            </a:srgbClr>
          </a:solidFill>
          <a:ln w="12700">
            <a:solidFill>
              <a:srgbClr val="E8B4B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1729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1019"/>
                </a:solidFill>
              </a:rPr>
              <a:t>EXP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5387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POS Tags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9044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CE"/>
                </a:solidFill>
              </a:rPr>
              <a:t>Counts of NN, VB, JJ, RB,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D5CE"/>
                </a:solidFill>
              </a:rPr>
              <a:t>NNP, VBZ, JJS (normalized)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5C2438"/>
          </a:solidFill>
          <a:ln w="12700">
            <a:solidFill>
              <a:srgbClr val="5C2438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27448" y="3172968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E8B4B8">
              <a:alpha val="80000"/>
            </a:srgbClr>
          </a:solidFill>
          <a:ln w="12700">
            <a:solidFill>
              <a:srgbClr val="E8B4B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27448" y="31729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A1019"/>
                </a:solidFill>
              </a:rPr>
              <a:t>EXP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09160" y="35387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Spam Signals 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9160" y="3904488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D5CE"/>
                </a:solidFill>
              </a:rPr>
              <a:t>URL ratio, CAPS, $, !, digits,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D5CE"/>
                </a:solidFill>
              </a:rPr>
              <a:t>spam lexicon (NOVEL)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00200" y="182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Unigram BOW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2,000 most frequent words
</a:t>
            </a: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word → Boolean feature (True/False)
</a:t>
            </a: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 removed first
</a:t>
            </a: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name format: V_word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960120"/>
            <a:ext cx="4526280" cy="1920240"/>
          </a:xfrm>
          <a:prstGeom prst="roundRect">
            <a:avLst>
              <a:gd name="adj" fmla="val 4762"/>
            </a:avLst>
          </a:prstGeom>
          <a:solidFill>
            <a:srgbClr val="2A1019"/>
          </a:solidFill>
          <a:ln w="12700">
            <a:solidFill>
              <a:srgbClr val="2A1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70832" y="10515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95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document_features_unigrams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(doc, wf):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70832" y="12984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 err="1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doc_words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70832" y="15361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70832" y="17739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70832" y="20116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features[</a:t>
            </a:r>
            <a:r>
              <a:rPr lang="en-US" sz="95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"V_{}"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.format(word)]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70832" y="22494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(word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doc_words)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70832" y="24871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8412480" cy="1755648"/>
          </a:xfrm>
          <a:prstGeom prst="roundRect">
            <a:avLst>
              <a:gd name="adj" fmla="val 5208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B8"/>
                </a:solidFill>
              </a:rPr>
              <a:t>Experiment 1 Results  (5-fold CV, n=1000)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4015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71800" y="3401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0644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694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00200" y="3694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71800" y="36941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3694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3694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3986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0020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71800" y="3986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3484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06440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279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0020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71800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3484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80644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Bigrams &amp; POS Tags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26769"/>
                </a:solidFill>
              </a:rPr>
              <a:t>Experiments 2 and 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FAF5F0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8C4A5C"/>
          </a:solidFill>
          <a:ln w="12700">
            <a:solidFill>
              <a:srgbClr val="8C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Unigrams + Bigrams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Top 500 bigrams added — catches two-word spam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phrases missed by unigrams alone.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Note: Naive Bayes assumes feature independence;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bigrams share tokens with unigrams, which can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hurt performance despite higher recall on phrases.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A1019"/>
          </a:solidFill>
          <a:ln w="12700">
            <a:solidFill>
              <a:srgbClr val="2A1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3108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doc_bigrams </a:t>
            </a: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0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(nltk.bigrams(doc))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33467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 </a:t>
            </a: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bigram_features: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35844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features[</a:t>
            </a:r>
            <a:r>
              <a:rPr lang="en-US" sz="90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"B_{}_{}"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.format(bg[0], bg[1])]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40599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(bg </a:t>
            </a: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doc_bigrams)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160520" cy="3749040"/>
          </a:xfrm>
          <a:prstGeom prst="roundRect">
            <a:avLst>
              <a:gd name="adj" fmla="val 2439"/>
            </a:avLst>
          </a:prstGeom>
          <a:solidFill>
            <a:srgbClr val="FAF5F0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11556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POS Tag Counts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84708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7 POS categories normalized by document length: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NN VB JJ RB NNP VBZ JJS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Spam uses more imperative verbs (VB: 'buy', 'call')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and superlative adjectives (JJS: 'best', 'cheapest').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6A66"/>
                </a:solidFill>
              </a:rPr>
              <a:t>Ham has more proper nouns (NNP: company names).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2A1019"/>
          </a:solidFill>
          <a:ln w="12700">
            <a:solidFill>
              <a:srgbClr val="2A1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1089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pos_tags </a:t>
            </a: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0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nltk.pos_tag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(doc[:100])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33467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pos_counts </a:t>
            </a: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0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35844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 </a:t>
            </a: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_, tag </a:t>
            </a: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pos_tags)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</a:t>
            </a:r>
            <a:r>
              <a:rPr lang="en-US" sz="90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0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["NN","VB","JJ"...]: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608" y="40599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f["POS_"+cat] = count/total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E8B4B8">
              <a:alpha val="90000"/>
            </a:srgbClr>
          </a:solidFill>
          <a:ln w="12700">
            <a:solidFill>
              <a:srgbClr val="E8B4B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1019"/>
                </a:solidFill>
              </a:rPr>
              <a:t>NOVEL 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164592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Spam Signal 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4B8"/>
                </a:solidFill>
              </a:rPr>
              <a:t>EXP 4 · Stylometric features not demonstrated in class or lab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Ratio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A09C"/>
                </a:solidFill>
              </a:rPr>
              <a:t>Density of http/www/.com tokens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80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SIGNAL_url_ratio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ALL-CAPS Ratio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91840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A09C"/>
                </a:solidFill>
              </a:rPr>
              <a:t>Fraction of fully capitalized words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80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SIGNAL_caps_ratio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11556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Present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14447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A09C"/>
                </a:solidFill>
              </a:rPr>
              <a:t>Boolean: any dollar sign in email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26480" y="1664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80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SIGNAL_has_dollar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176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 Ratio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2450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A09C"/>
                </a:solidFill>
              </a:rPr>
              <a:t>Normalized exclamation mark count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80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SIGNAL_excl_ratio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212140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2176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Ratio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91840" y="2450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A09C"/>
                </a:solidFill>
              </a:rPr>
              <a:t>Ratio of tokens containing digits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91840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80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SIGNAL_numeric_ratio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035040" y="212140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26480" y="2176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Lexicon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126480" y="2450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A09C"/>
                </a:solidFill>
              </a:rPr>
              <a:t>Count of 50 hand-crafted spam words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280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SIGNAL_spam_word_count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3154680"/>
            <a:ext cx="8412480" cy="1691640"/>
          </a:xfrm>
          <a:prstGeom prst="roundRect">
            <a:avLst>
              <a:gd name="adj" fmla="val 5405"/>
            </a:avLst>
          </a:prstGeom>
          <a:solidFill>
            <a:srgbClr val="2A1019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2278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Stylometric spam signals (novel custom feature)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34747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url_count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95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"http" in w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37124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caps_count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w.isupper()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len(w) &gt; 1)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39502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sig_count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w.lower()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spam_signals)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Cross-Validation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26769"/>
                </a:solidFill>
              </a:rPr>
              <a:t>Every example tested exactly once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57400" y="11430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8C4A5C"/>
          </a:solidFill>
          <a:ln w="12700">
            <a:solidFill>
              <a:srgbClr val="8C4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57400" y="1143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49040" y="11430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9040" y="1143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A1019"/>
                </a:solidFill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A1019"/>
                </a:solidFill>
              </a:rPr>
              <a:t>Fold 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40680" y="11430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5C2438"/>
          </a:solidFill>
          <a:ln w="12700">
            <a:solidFill>
              <a:srgbClr val="5C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0680" y="1143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143000"/>
            <a:ext cx="1554480" cy="640080"/>
          </a:xfrm>
          <a:prstGeom prst="roundRect">
            <a:avLst>
              <a:gd name="adj" fmla="val 10000"/>
            </a:avLst>
          </a:prstGeom>
          <a:solidFill>
            <a:srgbClr val="1A4A3A"/>
          </a:solidFill>
          <a:ln w="12700">
            <a:solidFill>
              <a:srgbClr val="1A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1143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Fold 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18470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66"/>
                </a:solidFill>
              </a:rPr>
              <a:t>← Rotate test fold through all 5 positions 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945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267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587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B8BC"/>
                </a:solidFill>
              </a:rPr>
              <a:t>Of flagged spam,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B8BC"/>
                </a:solidFill>
              </a:rPr>
              <a:t>how much is real spam?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1945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8C4A5C"/>
          </a:solidFill>
          <a:ln w="12700">
            <a:solidFill>
              <a:srgbClr val="8C4A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0" y="2267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2587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B8BC"/>
                </a:solidFill>
              </a:rPr>
              <a:t>Of all real spam,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B8BC"/>
                </a:solidFill>
              </a:rPr>
              <a:t>how much did we catch?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21945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0" y="226771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2587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2·P·R / (P + 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28803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B8BC"/>
                </a:solidFill>
              </a:rPr>
              <a:t>Harmonic mean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B8BC"/>
                </a:solidFill>
              </a:rPr>
              <a:t>precision and recall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2A1019"/>
          </a:solidFill>
          <a:ln w="12700">
            <a:solidFill>
              <a:srgbClr val="2A1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7307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range(5):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39684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  = featuresets[i*size:(i+1)*size]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" y="42062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 = featuresets[:i*size] + featuresets[(i+1)*size:]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44439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clf  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NaiveBayesClassifier.train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(train)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5C2438"/>
          </a:solidFill>
          <a:ln w="12700">
            <a:solidFill>
              <a:srgbClr val="5C2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ADVANCED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164592"/>
            <a:ext cx="6675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(Exp 5)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2103120"/>
          </a:xfrm>
          <a:prstGeom prst="roundRect">
            <a:avLst>
              <a:gd name="adj" fmla="val 4348"/>
            </a:avLst>
          </a:prstGeom>
          <a:solidFill>
            <a:srgbClr val="FAF5F0"/>
          </a:solidFill>
          <a:ln w="6350">
            <a:solidFill>
              <a:srgbClr val="E8DD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
</a:t>
            </a: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small data
</a:t>
            </a:r>
            <a:r>
              <a:rPr lang="en-US" sz="10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output
</a:t>
            </a:r>
            <a:r>
              <a:rPr lang="en-US" sz="1050" b="1" dirty="0">
                <a:solidFill>
                  <a:srgbClr val="8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independence
</a:t>
            </a:r>
            <a:r>
              <a:rPr lang="en-US" sz="1050" b="1" dirty="0">
                <a:solidFill>
                  <a:srgbClr val="8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correlated features
</a:t>
            </a:r>
            <a:r>
              <a:rPr lang="en-US" sz="1050" b="1" dirty="0">
                <a:solidFill>
                  <a:srgbClr val="8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050" dirty="0">
                <a:solidFill>
                  <a:srgbClr val="7A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 hurt performance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26280" y="960120"/>
            <a:ext cx="4251960" cy="2103120"/>
          </a:xfrm>
          <a:prstGeom prst="roundRect">
            <a:avLst>
              <a:gd name="adj" fmla="val 4348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02412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417320"/>
            <a:ext cx="3977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Discriminative model
</a:t>
            </a:r>
            <a:r>
              <a:rPr lang="en-US" sz="1050" b="1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correlated features
</a:t>
            </a:r>
            <a:r>
              <a:rPr lang="en-US" sz="1050" b="1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independence assumption
</a:t>
            </a:r>
            <a:r>
              <a:rPr lang="en-US" sz="1050" b="1" dirty="0">
                <a:solidFill>
                  <a:srgbClr val="D8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r>
              <a:rPr lang="en-US" sz="1050" dirty="0">
                <a:solidFill>
                  <a:srgbClr val="D8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on large feature sets
</a:t>
            </a: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b="1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 with NLTK — NOT</a:t>
            </a:r>
            <a:endParaRPr lang="en-US" sz="1050" dirty="0"/>
          </a:p>
          <a:p>
            <a:pPr marL="0" indent="0">
              <a:buNone/>
            </a:pPr>
            <a:r>
              <a:rPr lang="en-US" sz="1000" b="1" dirty="0">
                <a:solidFill>
                  <a:srgbClr val="E8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CountVectorizer / TfidfVectorizer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8412480" cy="1691640"/>
          </a:xfrm>
          <a:prstGeom prst="roundRect">
            <a:avLst>
              <a:gd name="adj" fmla="val 5405"/>
            </a:avLst>
          </a:prstGeom>
          <a:solidFill>
            <a:srgbClr val="2A1019"/>
          </a:solidFill>
          <a:ln w="12700">
            <a:solidFill>
              <a:srgbClr val="2A1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22783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NLTK feature dict → numeric vector for sklearn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95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to_vec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(fd):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[1.0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fd.get(k)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True else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float(fd.get(k,0))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feature_keys]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71246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950" dirty="0">
                <a:solidFill>
                  <a:srgbClr val="D89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(max_iter=</a:t>
            </a:r>
            <a:r>
              <a:rPr lang="en-US" sz="950" dirty="0">
                <a:solidFill>
                  <a:srgbClr val="F2C4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solver=</a:t>
            </a:r>
            <a:r>
              <a:rPr lang="en-US" sz="950" dirty="0">
                <a:solidFill>
                  <a:srgbClr val="C9A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"lbfgs"</a:t>
            </a: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9502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clf.fit(X_train, y_train)</a:t>
            </a:r>
            <a:r>
              <a:rPr lang="en-US" sz="950" dirty="0">
                <a:solidFill>
                  <a:srgbClr val="9A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NLTK features → sklearn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1879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= clf.predict(X_test)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All Experiments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A66"/>
                </a:solidFill>
              </a:rPr>
              <a:t>5-fold cross-validation · n = 1,000 emails (balanced)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53035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051560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89320" y="1115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Holds Strong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89320" y="14630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</a:rPr>
              <a:t>Unigrams alone (Exp 1) achieve ~96.9% accuracy — the highest among NB experiments. Simple BOW is hard to beat for spam.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97880" y="2542032"/>
            <a:ext cx="2880360" cy="1371600"/>
          </a:xfrm>
          <a:prstGeom prst="roundRect">
            <a:avLst>
              <a:gd name="adj" fmla="val 6667"/>
            </a:avLst>
          </a:prstGeom>
          <a:solidFill>
            <a:srgbClr val="8C4A5C"/>
          </a:solidFill>
          <a:ln w="12700">
            <a:solidFill>
              <a:srgbClr val="8C4A5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2606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Bigrams Hurt NB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295351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D5CE"/>
                </a:solidFill>
              </a:rPr>
              <a:t>Adding bigrams reduces Naive Bayes performance. NB assumes feature independence, which bigrams violate — they share tokens with unigrams.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89320" y="40233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 Matches Baseline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89320" y="431596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E8E0"/>
                </a:solidFill>
              </a:rPr>
              <a:t>Logistic Regression (Exp 5) recovers full baseline performance with same features.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&amp; 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078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quality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35331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A09C"/>
                </a:solidFill>
              </a:rPr>
              <a:t>5-fold CV shows consistent fold-to-fold accuracy — no overfitting. Model generalizes well.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883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vs 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15798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A09C"/>
                </a:solidFill>
              </a:rPr>
              <a:t>High spam recall (0.994) is good, but watch ham precision — false positives block legit email.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Bigram finding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9626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A09C"/>
                </a:solidFill>
              </a:rPr>
              <a:t>Bigrams hurt Naive Bayes (independence assumption violated). This is a key analytical insight.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suitability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7673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A09C"/>
                </a:solidFill>
              </a:rPr>
              <a:t>Enron is well-suited but dated. TREC 2007 or SpamAssassin corpus would improve generalization.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24528"/>
            <a:ext cx="8412480" cy="713232"/>
          </a:xfrm>
          <a:prstGeom prst="roundRect">
            <a:avLst>
              <a:gd name="adj" fmla="val 10256"/>
            </a:avLst>
          </a:prstGeom>
          <a:solidFill>
            <a:srgbClr val="3D1825"/>
          </a:solidFill>
          <a:ln w="127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44256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5720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A09C"/>
                </a:solidFill>
              </a:rPr>
              <a:t>Try TF-IDF weighting, SVM classifier, or fine-tuned BERT for better contextual understanding.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1576</Words>
  <Application>Microsoft Macintosh PowerPoint</Application>
  <PresentationFormat>On-screen Show (16:9)</PresentationFormat>
  <Paragraphs>240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664 Final Project: Email Spam Classification</dc:title>
  <dc:subject>PptxGenJS Presentation</dc:subject>
  <dc:creator>PptxGenJS</dc:creator>
  <cp:lastModifiedBy>Najah M Bell</cp:lastModifiedBy>
  <cp:revision>2</cp:revision>
  <dcterms:created xsi:type="dcterms:W3CDTF">2026-06-30T02:59:41Z</dcterms:created>
  <dcterms:modified xsi:type="dcterms:W3CDTF">2026-06-30T04:22:09Z</dcterms:modified>
</cp:coreProperties>
</file>